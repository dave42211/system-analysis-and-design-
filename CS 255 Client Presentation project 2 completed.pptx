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966" autoAdjust="0"/>
    <p:restoredTop sz="66130" autoAdjust="0"/>
  </p:normalViewPr>
  <p:slideViewPr>
    <p:cSldViewPr snapToGrid="0">
      <p:cViewPr varScale="1">
        <p:scale>
          <a:sx n="77" d="100"/>
          <a:sy n="77" d="100"/>
        </p:scale>
        <p:origin x="-1760" y="-6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pPr/>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pPr/>
              <a:t>‹#›</a:t>
            </a:fld>
            <a:endParaRPr lang="en-US"/>
          </a:p>
        </p:txBody>
      </p:sp>
    </p:spTree>
    <p:extLst>
      <p:ext uri="{BB962C8B-B14F-4D97-AF65-F5344CB8AC3E}">
        <p14:creationId xmlns:p14="http://schemas.microsoft.com/office/powerpoint/2010/main" xmlns=""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a:t>
            </a:r>
            <a:r>
              <a:rPr lang="en-US" baseline="0" dirty="0" smtClean="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pPr/>
              <a:t>1</a:t>
            </a:fld>
            <a:endParaRPr lang="en-US"/>
          </a:p>
        </p:txBody>
      </p:sp>
    </p:spTree>
    <p:extLst>
      <p:ext uri="{BB962C8B-B14F-4D97-AF65-F5344CB8AC3E}">
        <p14:creationId xmlns:p14="http://schemas.microsoft.com/office/powerpoint/2010/main" xmlns=""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 Customers need a simple way to prepare for driving tests and schedule lessons. Staff members need a way to manage lessons, instructors, vehicles, packages, and customer information. The system also needs to be secure and dependable because it will store private customer information and business records.</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pPr/>
              <a:t>2</a:t>
            </a:fld>
            <a:endParaRPr lang="en-US"/>
          </a:p>
        </p:txBody>
      </p:sp>
    </p:spTree>
    <p:extLst>
      <p:ext uri="{BB962C8B-B14F-4D97-AF65-F5344CB8AC3E}">
        <p14:creationId xmlns:p14="http://schemas.microsoft.com/office/powerpoint/2010/main" xmlns=""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This diagram shows the main people who use the </a:t>
            </a:r>
            <a:r>
              <a:rPr lang="en-US" sz="1200" kern="1200" dirty="0" err="1" smtClean="0">
                <a:solidFill>
                  <a:schemeClr val="tx1"/>
                </a:solidFill>
                <a:latin typeface="+mn-lt"/>
                <a:ea typeface="+mn-ea"/>
                <a:cs typeface="+mn-cs"/>
              </a:rPr>
              <a:t>DriverPass</a:t>
            </a:r>
            <a:r>
              <a:rPr lang="en-US" sz="1200" kern="1200" dirty="0" smtClean="0">
                <a:solidFill>
                  <a:schemeClr val="tx1"/>
                </a:solidFill>
                <a:latin typeface="+mn-lt"/>
                <a:ea typeface="+mn-ea"/>
                <a:cs typeface="+mn-cs"/>
              </a:rPr>
              <a:t> system and what they need from it. Customers can create accounts, buy packages, schedule lessons, and take practice tests. The secretary can help schedule or change lessons. Instructors can view lesson information and record notes. The owner can review reports and manage packages. The IT administrator manages accounts and system access. This design supports </a:t>
            </a:r>
            <a:r>
              <a:rPr lang="en-US" sz="1200" kern="1200" dirty="0" err="1" smtClean="0">
                <a:solidFill>
                  <a:schemeClr val="tx1"/>
                </a:solidFill>
                <a:latin typeface="+mn-lt"/>
                <a:ea typeface="+mn-ea"/>
                <a:cs typeface="+mn-cs"/>
              </a:rPr>
              <a:t>DriverPass</a:t>
            </a:r>
            <a:r>
              <a:rPr lang="en-US" sz="1200" kern="1200" dirty="0" smtClean="0">
                <a:solidFill>
                  <a:schemeClr val="tx1"/>
                </a:solidFill>
                <a:latin typeface="+mn-lt"/>
                <a:ea typeface="+mn-ea"/>
                <a:cs typeface="+mn-cs"/>
              </a:rPr>
              <a:t> by connecting each person to the tasks they need to complete.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pPr/>
              <a:t>3</a:t>
            </a:fld>
            <a:endParaRPr lang="en-US"/>
          </a:p>
        </p:txBody>
      </p:sp>
    </p:spTree>
    <p:extLst>
      <p:ext uri="{BB962C8B-B14F-4D97-AF65-F5344CB8AC3E}">
        <p14:creationId xmlns:p14="http://schemas.microsoft.com/office/powerpoint/2010/main" xmlns=""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This activity diagram breaks down the process of scheduling a driving lesson. The customer or secretary logs in, chooses the scheduling option, enters the lesson details, and the system checks whether an instructor and vehicle are available. If the time is available, the lesson is confirmed and saved. If it is not available, the system shows other options. This helps </a:t>
            </a:r>
            <a:r>
              <a:rPr lang="en-US" sz="1200" kern="1200" dirty="0" err="1" smtClean="0">
                <a:solidFill>
                  <a:schemeClr val="tx1"/>
                </a:solidFill>
                <a:latin typeface="+mn-lt"/>
                <a:ea typeface="+mn-ea"/>
                <a:cs typeface="+mn-cs"/>
              </a:rPr>
              <a:t>DriverPass</a:t>
            </a:r>
            <a:r>
              <a:rPr lang="en-US" sz="1200" kern="1200" dirty="0" smtClean="0">
                <a:solidFill>
                  <a:schemeClr val="tx1"/>
                </a:solidFill>
                <a:latin typeface="+mn-lt"/>
                <a:ea typeface="+mn-ea"/>
                <a:cs typeface="+mn-cs"/>
              </a:rPr>
              <a:t> prevent scheduling conflicts and makes booking lessons easier for customers and staff.</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pPr/>
              <a:t>4</a:t>
            </a:fld>
            <a:endParaRPr lang="en-US"/>
          </a:p>
        </p:txBody>
      </p:sp>
    </p:spTree>
    <p:extLst>
      <p:ext uri="{BB962C8B-B14F-4D97-AF65-F5344CB8AC3E}">
        <p14:creationId xmlns:p14="http://schemas.microsoft.com/office/powerpoint/2010/main" xmlns=""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Security is important because </a:t>
            </a:r>
            <a:r>
              <a:rPr lang="en-US" sz="1200" kern="1200" dirty="0" err="1" smtClean="0">
                <a:solidFill>
                  <a:schemeClr val="tx1"/>
                </a:solidFill>
                <a:latin typeface="+mn-lt"/>
                <a:ea typeface="+mn-ea"/>
                <a:cs typeface="+mn-cs"/>
              </a:rPr>
              <a:t>DriverPass</a:t>
            </a:r>
            <a:r>
              <a:rPr lang="en-US" sz="1200" kern="1200" dirty="0" smtClean="0">
                <a:solidFill>
                  <a:schemeClr val="tx1"/>
                </a:solidFill>
                <a:latin typeface="+mn-lt"/>
                <a:ea typeface="+mn-ea"/>
                <a:cs typeface="+mn-cs"/>
              </a:rPr>
              <a:t> will store customer accounts, contact information, schedules, purchases, and testing progress. The design protects this information by requiring users to log in and by limiting access based on each person’s role. For example, customers should not see staff reports, and instructors should only see information related to their lessons. The system should also protect accounts from repeated login attempts and keep information safe while users are connected online.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pPr/>
              <a:t>5</a:t>
            </a:fld>
            <a:endParaRPr lang="en-US"/>
          </a:p>
        </p:txBody>
      </p:sp>
    </p:spTree>
    <p:extLst>
      <p:ext uri="{BB962C8B-B14F-4D97-AF65-F5344CB8AC3E}">
        <p14:creationId xmlns:p14="http://schemas.microsoft.com/office/powerpoint/2010/main" xmlns=""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This slide explains the limits of the current design. The system is built around web access, so users need internet service and a browser. The system can organize DMV information and practice material, but that information still needs to be kept current. The design covers the main needs for </a:t>
            </a:r>
            <a:r>
              <a:rPr lang="en-US" sz="1200" kern="1200" dirty="0" err="1" smtClean="0">
                <a:solidFill>
                  <a:schemeClr val="tx1"/>
                </a:solidFill>
                <a:latin typeface="+mn-lt"/>
                <a:ea typeface="+mn-ea"/>
                <a:cs typeface="+mn-cs"/>
              </a:rPr>
              <a:t>DriverPass</a:t>
            </a:r>
            <a:r>
              <a:rPr lang="en-US" sz="1200" kern="1200" dirty="0" smtClean="0">
                <a:solidFill>
                  <a:schemeClr val="tx1"/>
                </a:solidFill>
                <a:latin typeface="+mn-lt"/>
                <a:ea typeface="+mn-ea"/>
                <a:cs typeface="+mn-cs"/>
              </a:rPr>
              <a:t> now, but future changes may be needed if the business grows, adds new locations, or wants a separate mobile app. </a:t>
            </a:r>
            <a:r>
              <a:rPr lang="en-US" sz="1200" kern="1200" smtClean="0">
                <a:solidFill>
                  <a:schemeClr val="tx1"/>
                </a:solidFill>
                <a:latin typeface="+mn-lt"/>
                <a:ea typeface="+mn-ea"/>
                <a:cs typeface="+mn-cs"/>
              </a:rPr>
              <a:t>These limits are normal for a first system design and can be addressed through future updates.</a:t>
            </a:r>
            <a:endParaRPr lang="en-US" sz="1200" kern="120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pPr/>
              <a:t>6</a:t>
            </a:fld>
            <a:endParaRPr lang="en-US"/>
          </a:p>
        </p:txBody>
      </p:sp>
    </p:spTree>
    <p:extLst>
      <p:ext uri="{BB962C8B-B14F-4D97-AF65-F5344CB8AC3E}">
        <p14:creationId xmlns:p14="http://schemas.microsoft.com/office/powerpoint/2010/main" xmlns=""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30F87932-8FF0-4DF1-A776-9A3CE37618A7}"/>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5" name="Footer Placeholder 4">
            <a:extLst>
              <a:ext uri="{FF2B5EF4-FFF2-40B4-BE49-F238E27FC236}">
                <a16:creationId xmlns:a16="http://schemas.microsoft.com/office/drawing/2014/main" xmlns=""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24490E3-D8E8-4766-9104-14009BF5636F}"/>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5CD83D3-86C4-482F-A2DC-B4C55DBF3F7A}"/>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5" name="Footer Placeholder 4">
            <a:extLst>
              <a:ext uri="{FF2B5EF4-FFF2-40B4-BE49-F238E27FC236}">
                <a16:creationId xmlns:a16="http://schemas.microsoft.com/office/drawing/2014/main" xmlns=""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C097965-24FE-4C07-BE16-69AE439950EF}"/>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196233C-6806-4593-91C0-CF4ECD84A601}"/>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5" name="Footer Placeholder 4">
            <a:extLst>
              <a:ext uri="{FF2B5EF4-FFF2-40B4-BE49-F238E27FC236}">
                <a16:creationId xmlns:a16="http://schemas.microsoft.com/office/drawing/2014/main" xmlns=""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297E71-B59F-4260-B01B-2B7CEB0896BD}"/>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850FA9B4-D282-452F-B78A-FF5873ACF45A}"/>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6" name="Footer Placeholder 5">
            <a:extLst>
              <a:ext uri="{FF2B5EF4-FFF2-40B4-BE49-F238E27FC236}">
                <a16:creationId xmlns:a16="http://schemas.microsoft.com/office/drawing/2014/main" xmlns=""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B8791D0-EC30-4D8C-8764-475D8DB34F19}"/>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D837DDCB-69F8-49FA-A111-C8AB271389E7}"/>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8" name="Footer Placeholder 7">
            <a:extLst>
              <a:ext uri="{FF2B5EF4-FFF2-40B4-BE49-F238E27FC236}">
                <a16:creationId xmlns:a16="http://schemas.microsoft.com/office/drawing/2014/main" xmlns=""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429B21FC-12CC-472D-BC38-EF413158CC5D}"/>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A0909660-3861-4545-BF68-9ED039B5D0F0}"/>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4" name="Footer Placeholder 3">
            <a:extLst>
              <a:ext uri="{FF2B5EF4-FFF2-40B4-BE49-F238E27FC236}">
                <a16:creationId xmlns:a16="http://schemas.microsoft.com/office/drawing/2014/main" xmlns=""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F5679880-BF48-4F4D-B8B3-4E99FC415FF9}"/>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7F98E25-CF37-4F73-9E22-210238167867}"/>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3" name="Footer Placeholder 2">
            <a:extLst>
              <a:ext uri="{FF2B5EF4-FFF2-40B4-BE49-F238E27FC236}">
                <a16:creationId xmlns:a16="http://schemas.microsoft.com/office/drawing/2014/main" xmlns=""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18A8E424-5A91-4557-9ADF-4A9422A0690D}"/>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30D413-9505-4ED8-BFF1-5141BE9EE3C4}"/>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6" name="Footer Placeholder 5">
            <a:extLst>
              <a:ext uri="{FF2B5EF4-FFF2-40B4-BE49-F238E27FC236}">
                <a16:creationId xmlns:a16="http://schemas.microsoft.com/office/drawing/2014/main" xmlns=""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5C9FCEF-4406-4552-BFE4-6DA3761357F2}"/>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xmlns=""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2501218-FFD7-4F25-B220-F5DE5F70693C}"/>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6" name="Footer Placeholder 5">
            <a:extLst>
              <a:ext uri="{FF2B5EF4-FFF2-40B4-BE49-F238E27FC236}">
                <a16:creationId xmlns:a16="http://schemas.microsoft.com/office/drawing/2014/main" xmlns=""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0C2726A4-D33A-486A-B120-648AF3D8BA76}"/>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436EC56-7DCF-400D-A871-C26291EB10AD}"/>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5" name="Footer Placeholder 4">
            <a:extLst>
              <a:ext uri="{FF2B5EF4-FFF2-40B4-BE49-F238E27FC236}">
                <a16:creationId xmlns:a16="http://schemas.microsoft.com/office/drawing/2014/main" xmlns=""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D2F48AF-AB8F-4DD2-BC77-7E2F42AD3B87}"/>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14DD33D-563C-4B8C-B8C1-625FF5C5B85D}"/>
              </a:ext>
            </a:extLst>
          </p:cNvPr>
          <p:cNvSpPr>
            <a:spLocks noGrp="1"/>
          </p:cNvSpPr>
          <p:nvPr>
            <p:ph type="dt" sz="half" idx="10"/>
          </p:nvPr>
        </p:nvSpPr>
        <p:spPr/>
        <p:txBody>
          <a:bodyPr/>
          <a:lstStyle/>
          <a:p>
            <a:fld id="{5D6495F3-B757-4FAF-98AA-EDA7D1485485}" type="datetimeFigureOut">
              <a:rPr lang="en-US" smtClean="0"/>
              <a:pPr/>
              <a:t>6/21/2026</a:t>
            </a:fld>
            <a:endParaRPr lang="en-US"/>
          </a:p>
        </p:txBody>
      </p:sp>
      <p:sp>
        <p:nvSpPr>
          <p:cNvPr id="5" name="Footer Placeholder 4">
            <a:extLst>
              <a:ext uri="{FF2B5EF4-FFF2-40B4-BE49-F238E27FC236}">
                <a16:creationId xmlns:a16="http://schemas.microsoft.com/office/drawing/2014/main" xmlns=""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E6E675F-CC4D-48CF-90C8-53829EE08B8C}"/>
              </a:ext>
            </a:extLst>
          </p:cNvPr>
          <p:cNvSpPr>
            <a:spLocks noGrp="1"/>
          </p:cNvSpPr>
          <p:nvPr>
            <p:ph type="sldNum" sz="quarter" idx="12"/>
          </p:nvPr>
        </p:nvSpPr>
        <p:spPr/>
        <p:txBody>
          <a:body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pPr/>
              <a:t>6/21/2026</a:t>
            </a:fld>
            <a:endParaRPr lang="en-US"/>
          </a:p>
        </p:txBody>
      </p:sp>
      <p:sp>
        <p:nvSpPr>
          <p:cNvPr id="5" name="Footer Placeholder 4">
            <a:extLst>
              <a:ext uri="{FF2B5EF4-FFF2-40B4-BE49-F238E27FC236}">
                <a16:creationId xmlns:a16="http://schemas.microsoft.com/office/drawing/2014/main" xmlns=""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pPr/>
              <a:t>‹#›</a:t>
            </a:fld>
            <a:endParaRPr lang="en-US"/>
          </a:p>
        </p:txBody>
      </p:sp>
    </p:spTree>
    <p:extLst>
      <p:ext uri="{BB962C8B-B14F-4D97-AF65-F5344CB8AC3E}">
        <p14:creationId xmlns:p14="http://schemas.microsoft.com/office/powerpoint/2010/main" xmlns=""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23962611-DFD5-4092-AAFD-559E3DFCE2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xmlns="" id="{2270F1FA-0425-408F-9861-80BF5AFB276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4">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smtClean="0">
                <a:solidFill>
                  <a:srgbClr val="FFFFFF"/>
                </a:solidFill>
              </a:rPr>
              <a:t>DriverPass</a:t>
            </a:r>
            <a:r>
              <a:rPr lang="en-US" dirty="0" smtClean="0">
                <a:solidFill>
                  <a:srgbClr val="FFFFFF"/>
                </a:solidFill>
              </a:rPr>
              <a:t/>
            </a:r>
            <a:br>
              <a:rPr lang="en-US" dirty="0" smtClean="0">
                <a:solidFill>
                  <a:srgbClr val="FFFFFF"/>
                </a:solidFill>
              </a:rPr>
            </a:br>
            <a:r>
              <a:rPr lang="en-US" dirty="0" smtClean="0">
                <a:solidFill>
                  <a:srgbClr val="FFFFFF"/>
                </a:solidFill>
              </a:rPr>
              <a:t>System </a:t>
            </a:r>
            <a:r>
              <a:rPr lang="en-US" dirty="0">
                <a:solidFill>
                  <a:srgbClr val="FFFFFF"/>
                </a:solidFill>
              </a:rPr>
              <a:t>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smtClean="0">
                <a:solidFill>
                  <a:srgbClr val="FFFFFF"/>
                </a:solidFill>
              </a:rPr>
              <a:t>David Friend </a:t>
            </a:r>
            <a:endParaRPr dirty="0">
              <a:solidFill>
                <a:srgbClr val="FFFFFF"/>
              </a:solidFill>
            </a:endParaRPr>
          </a:p>
        </p:txBody>
      </p:sp>
    </p:spTree>
    <p:custDataLst>
      <p:tags r:id="rId1"/>
    </p:custDataLst>
    <p:extLst>
      <p:ext uri="{BB962C8B-B14F-4D97-AF65-F5344CB8AC3E}">
        <p14:creationId xmlns:p14="http://schemas.microsoft.com/office/powerpoint/2010/main" xmlns=""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B854194-185D-494D-905C-7C7CB2E3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B4F5FA0D-0104-4987-8241-EFF7C85B88D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xmlns="" id="{2897127E-6CEF-446C-BE87-93B7C46E49D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4">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System </a:t>
            </a:r>
            <a:r>
              <a:rPr lang="en-US" dirty="0">
                <a:solidFill>
                  <a:schemeClr val="bg1"/>
                </a:solidFill>
              </a:rPr>
              <a:t>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a:buNone/>
            </a:pPr>
            <a:r>
              <a:rPr lang="en-US" sz="2400" dirty="0" smtClean="0"/>
              <a:t>• </a:t>
            </a:r>
            <a:r>
              <a:rPr lang="en-US" sz="2400" dirty="0" smtClean="0"/>
              <a:t>Functional Requirements:</a:t>
            </a:r>
          </a:p>
          <a:p>
            <a:r>
              <a:rPr lang="en-US" sz="2400" dirty="0" smtClean="0"/>
              <a:t>• The system shall allow customers to create accounts, log in, purchase training packages, schedule driving lessons, and complete practice tests.</a:t>
            </a:r>
          </a:p>
          <a:p>
            <a:r>
              <a:rPr lang="en-US" sz="2400" dirty="0" smtClean="0"/>
              <a:t>• The system shall allow staff to manage schedules, assign instructors and vehicles, update packages, manage users, and run reports.</a:t>
            </a:r>
          </a:p>
          <a:p>
            <a:r>
              <a:rPr lang="en-US" sz="2400" dirty="0" smtClean="0"/>
              <a:t>• Nonfunctional Requirements:</a:t>
            </a:r>
          </a:p>
          <a:p>
            <a:r>
              <a:rPr lang="en-US" sz="2400" dirty="0" smtClean="0"/>
              <a:t>• The system shall be secure, easy to access through a web browser, reliable, and able to support more users as </a:t>
            </a:r>
            <a:r>
              <a:rPr lang="en-US" sz="2400" dirty="0" err="1" smtClean="0"/>
              <a:t>DriverPass</a:t>
            </a:r>
            <a:r>
              <a:rPr lang="en-US" sz="2400" dirty="0" smtClean="0"/>
              <a:t> grows.</a:t>
            </a:r>
          </a:p>
          <a:p>
            <a:endParaRPr sz="2400" dirty="0">
              <a:solidFill>
                <a:srgbClr val="000000"/>
              </a:solidFill>
            </a:endParaRPr>
          </a:p>
        </p:txBody>
      </p:sp>
    </p:spTree>
    <p:custDataLst>
      <p:tags r:id="rId1"/>
    </p:custDataLst>
    <p:extLst>
      <p:ext uri="{BB962C8B-B14F-4D97-AF65-F5344CB8AC3E}">
        <p14:creationId xmlns:p14="http://schemas.microsoft.com/office/powerpoint/2010/main" xmlns=""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B854194-185D-494D-905C-7C7CB2E3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B4F5FA0D-0104-4987-8241-EFF7C85B88D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xmlns="" id="{2897127E-6CEF-446C-BE87-93B7C46E49D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4">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Use Case Diagram</a:t>
            </a:r>
            <a:endParaRPr lang="en-US" dirty="0">
              <a:solidFill>
                <a:schemeClr val="bg1"/>
              </a:solidFill>
            </a:endParaRPr>
          </a:p>
        </p:txBody>
      </p:sp>
      <p:pic>
        <p:nvPicPr>
          <p:cNvPr id="7" name="Content Placeholder 6"/>
          <p:cNvPicPr>
            <a:picLocks noGrp="1"/>
          </p:cNvPicPr>
          <p:nvPr>
            <p:ph idx="1"/>
          </p:nvPr>
        </p:nvPicPr>
        <p:blipFill>
          <a:blip r:embed="rId5"/>
          <a:stretch>
            <a:fillRect/>
          </a:stretch>
        </p:blipFill>
        <p:spPr>
          <a:xfrm>
            <a:off x="5964572" y="629174"/>
            <a:ext cx="6227428" cy="6023296"/>
          </a:xfrm>
          <a:prstGeom prst="rect">
            <a:avLst/>
          </a:prstGeom>
        </p:spPr>
      </p:pic>
    </p:spTree>
    <p:custDataLst>
      <p:tags r:id="rId1"/>
    </p:custDataLst>
    <p:extLst>
      <p:ext uri="{BB962C8B-B14F-4D97-AF65-F5344CB8AC3E}">
        <p14:creationId xmlns:p14="http://schemas.microsoft.com/office/powerpoint/2010/main" xmlns=""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B854194-185D-494D-905C-7C7CB2E3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B4F5FA0D-0104-4987-8241-EFF7C85B88D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xmlns="" id="{2897127E-6CEF-446C-BE87-93B7C46E49D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4">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Activity</a:t>
            </a:r>
            <a:br>
              <a:rPr lang="en-US" dirty="0" smtClean="0">
                <a:solidFill>
                  <a:schemeClr val="bg1"/>
                </a:solidFill>
              </a:rPr>
            </a:br>
            <a:r>
              <a:rPr lang="en-US" dirty="0" smtClean="0">
                <a:solidFill>
                  <a:schemeClr val="bg1"/>
                </a:solidFill>
              </a:rPr>
              <a:t>Diagram</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smtClean="0">
                <a:solidFill>
                  <a:srgbClr val="000000"/>
                </a:solidFill>
              </a:rPr>
              <a:t>[Insert </a:t>
            </a:r>
            <a:r>
              <a:rPr lang="en-US" sz="2400" b="1" dirty="0" smtClean="0">
                <a:solidFill>
                  <a:srgbClr val="000000"/>
                </a:solidFill>
              </a:rPr>
              <a:t>one</a:t>
            </a:r>
            <a:r>
              <a:rPr lang="en-US" sz="2400" dirty="0" smtClean="0">
                <a:solidFill>
                  <a:srgbClr val="000000"/>
                </a:solidFill>
              </a:rPr>
              <a:t> of your activity </a:t>
            </a:r>
            <a:r>
              <a:rPr lang="en-US" sz="2400" dirty="0">
                <a:solidFill>
                  <a:srgbClr val="000000"/>
                </a:solidFill>
              </a:rPr>
              <a:t>d</a:t>
            </a:r>
            <a:r>
              <a:rPr lang="en-US" sz="2400" dirty="0" smtClean="0">
                <a:solidFill>
                  <a:srgbClr val="000000"/>
                </a:solidFill>
              </a:rPr>
              <a:t>iagrams here.]</a:t>
            </a:r>
            <a:endParaRPr sz="2400" dirty="0">
              <a:solidFill>
                <a:srgbClr val="000000"/>
              </a:solidFill>
            </a:endParaRPr>
          </a:p>
        </p:txBody>
      </p:sp>
      <p:pic>
        <p:nvPicPr>
          <p:cNvPr id="7" name="Picture 6"/>
          <p:cNvPicPr/>
          <p:nvPr/>
        </p:nvPicPr>
        <p:blipFill>
          <a:blip r:embed="rId5"/>
          <a:stretch>
            <a:fillRect/>
          </a:stretch>
        </p:blipFill>
        <p:spPr>
          <a:xfrm>
            <a:off x="5939406" y="159392"/>
            <a:ext cx="6252594" cy="6698608"/>
          </a:xfrm>
          <a:prstGeom prst="rect">
            <a:avLst/>
          </a:prstGeom>
        </p:spPr>
      </p:pic>
    </p:spTree>
    <p:custDataLst>
      <p:tags r:id="rId1"/>
    </p:custDataLst>
    <p:extLst>
      <p:ext uri="{BB962C8B-B14F-4D97-AF65-F5344CB8AC3E}">
        <p14:creationId xmlns:p14="http://schemas.microsoft.com/office/powerpoint/2010/main" xmlns=""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B854194-185D-494D-905C-7C7CB2E3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B4F5FA0D-0104-4987-8241-EFF7C85B88D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xmlns="" id="{2897127E-6CEF-446C-BE87-93B7C46E49D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4">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Security</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pPr>
              <a:buNone/>
            </a:pPr>
            <a:r>
              <a:rPr lang="en-US" sz="2400" dirty="0" smtClean="0"/>
              <a:t>• Users must log in before accessing private information.</a:t>
            </a:r>
          </a:p>
          <a:p>
            <a:pPr>
              <a:buNone/>
            </a:pPr>
            <a:r>
              <a:rPr lang="en-US" sz="2400" dirty="0" smtClean="0"/>
              <a:t>• Customer passwords must be protected and not stored as plain text.</a:t>
            </a:r>
          </a:p>
          <a:p>
            <a:pPr>
              <a:buNone/>
            </a:pPr>
            <a:r>
              <a:rPr lang="en-US" sz="2400" dirty="0" smtClean="0"/>
              <a:t>• Different users only receive access to the parts of the system they need.</a:t>
            </a:r>
          </a:p>
          <a:p>
            <a:pPr>
              <a:buNone/>
            </a:pPr>
            <a:r>
              <a:rPr lang="en-US" sz="2400" dirty="0" smtClean="0"/>
              <a:t>• Accounts should lock or pause after repeated failed login attempts.</a:t>
            </a:r>
          </a:p>
          <a:p>
            <a:pPr>
              <a:buNone/>
            </a:pPr>
            <a:r>
              <a:rPr lang="en-US" sz="2400" dirty="0" smtClean="0"/>
              <a:t>• The system should use a secure connection to protect customer data.</a:t>
            </a:r>
            <a:endParaRPr lang="en-US" sz="2400" dirty="0"/>
          </a:p>
        </p:txBody>
      </p:sp>
    </p:spTree>
    <p:custDataLst>
      <p:tags r:id="rId1"/>
    </p:custDataLst>
    <p:extLst>
      <p:ext uri="{BB962C8B-B14F-4D97-AF65-F5344CB8AC3E}">
        <p14:creationId xmlns:p14="http://schemas.microsoft.com/office/powerpoint/2010/main" xmlns=""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3B854194-185D-494D-905C-7C7CB2E3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B4F5FA0D-0104-4987-8241-EFF7C85B88D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xmlns="" id="{2897127E-6CEF-446C-BE87-93B7C46E49D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4">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a:t>
            </a:r>
            <a:r>
              <a:rPr lang="en-US" dirty="0" smtClean="0">
                <a:solidFill>
                  <a:schemeClr val="bg1"/>
                </a:solidFill>
              </a:rPr>
              <a:t>Limitations</a:t>
            </a:r>
            <a:endParaRPr lang="en-US" dirty="0">
              <a:solidFill>
                <a:schemeClr val="bg1"/>
              </a:solidFill>
            </a:endParaRPr>
          </a:p>
        </p:txBody>
      </p:sp>
      <p:sp>
        <p:nvSpPr>
          <p:cNvPr id="3" name="Content Placeholder 2"/>
          <p:cNvSpPr>
            <a:spLocks noGrp="1"/>
          </p:cNvSpPr>
          <p:nvPr>
            <p:ph type="body" idx="1"/>
          </p:nvPr>
        </p:nvSpPr>
        <p:spPr>
          <a:xfrm>
            <a:off x="6090574" y="801866"/>
            <a:ext cx="5306084" cy="5230634"/>
          </a:xfrm>
        </p:spPr>
        <p:txBody>
          <a:bodyPr anchor="ctr">
            <a:normAutofit/>
          </a:bodyPr>
          <a:lstStyle/>
          <a:p>
            <a:pPr>
              <a:buNone/>
            </a:pPr>
            <a:r>
              <a:rPr lang="en-US" sz="2400" dirty="0" smtClean="0"/>
              <a:t>• The design depends on internet access and a working web browser.</a:t>
            </a:r>
          </a:p>
          <a:p>
            <a:pPr>
              <a:buNone/>
            </a:pPr>
            <a:r>
              <a:rPr lang="en-US" sz="2400" dirty="0" smtClean="0"/>
              <a:t>• DMV information must be kept updated by </a:t>
            </a:r>
            <a:r>
              <a:rPr lang="en-US" sz="2400" dirty="0" err="1" smtClean="0"/>
              <a:t>DriverPass</a:t>
            </a:r>
            <a:r>
              <a:rPr lang="en-US" sz="2400" dirty="0" smtClean="0"/>
              <a:t> or a trusted update process.</a:t>
            </a:r>
          </a:p>
          <a:p>
            <a:pPr>
              <a:buNone/>
            </a:pPr>
            <a:r>
              <a:rPr lang="en-US" sz="2400" dirty="0" smtClean="0"/>
              <a:t>• The first version does not include every possible future feature.</a:t>
            </a:r>
          </a:p>
          <a:p>
            <a:pPr>
              <a:buNone/>
            </a:pPr>
            <a:r>
              <a:rPr lang="en-US" sz="2400" dirty="0" smtClean="0"/>
              <a:t>• The design may need updates if </a:t>
            </a:r>
            <a:r>
              <a:rPr lang="en-US" sz="2400" dirty="0" err="1" smtClean="0"/>
              <a:t>DriverPass</a:t>
            </a:r>
            <a:r>
              <a:rPr lang="en-US" sz="2400" dirty="0" smtClean="0"/>
              <a:t> expands to more locations or adds a separate mobile app.</a:t>
            </a:r>
          </a:p>
          <a:p>
            <a:pPr>
              <a:buNone/>
            </a:pPr>
            <a:r>
              <a:rPr lang="en-US" sz="2400" dirty="0" smtClean="0"/>
              <a:t>• The system depends on staff entering accurate lesson, package, and vehicle information.</a:t>
            </a:r>
          </a:p>
          <a:p>
            <a:endParaRPr sz="2400" dirty="0">
              <a:solidFill>
                <a:srgbClr val="000000"/>
              </a:solidFill>
            </a:endParaRPr>
          </a:p>
        </p:txBody>
      </p:sp>
    </p:spTree>
    <p:custDataLst>
      <p:tags r:id="rId1"/>
    </p:custDataLst>
    <p:extLst>
      <p:ext uri="{BB962C8B-B14F-4D97-AF65-F5344CB8AC3E}">
        <p14:creationId xmlns:p14="http://schemas.microsoft.com/office/powerpoint/2010/main" xmlns=""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1352</TotalTime>
  <Words>662</Words>
  <Application>Microsoft Office PowerPoint</Application>
  <PresentationFormat>Custom</PresentationFormat>
  <Paragraphs>35</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DriverPass System Analysis</vt:lpstr>
      <vt:lpstr>System Requirements</vt:lpstr>
      <vt:lpstr>Use Case Diagram</vt:lpstr>
      <vt:lpstr>Activity Diagram</vt:lpstr>
      <vt:lpstr>Security</vt:lpstr>
      <vt:lpstr>System Limitations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alyss</cp:lastModifiedBy>
  <cp:revision>22</cp:revision>
  <dcterms:created xsi:type="dcterms:W3CDTF">2019-10-14T02:36:52Z</dcterms:created>
  <dcterms:modified xsi:type="dcterms:W3CDTF">2026-06-21T16:41:36Z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